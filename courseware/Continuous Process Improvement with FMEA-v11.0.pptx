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1009031-Continuous-Process-Improvement-with-FMEA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sq.org/quality-resources/fmea" TargetMode="External"/><Relationship Id="rId3" Type="http://schemas.openxmlformats.org/officeDocument/2006/relationships/hyperlink" Target="https://www.jamasoftware.com/requirements-management-guide/meeting-regulatory-compliance-and-industry-standards/fmea/" TargetMode="External"/><Relationship Id="rId4" Type="http://schemas.openxmlformats.org/officeDocument/2006/relationships/hyperlink" Target="https://quality-one.com/fmea/" TargetMode="External"/><Relationship Id="rId5" Type="http://schemas.openxmlformats.org/officeDocument/2006/relationships/hyperlink" Target="https://pmc.ncbi.nlm.nih.gov/articles/PMC10229026/" TargetMode="External"/><Relationship Id="rId6" Type="http://schemas.openxmlformats.org/officeDocument/2006/relationships/hyperlink" Target="https://www.iph-hannover.de/de/dienstleistungen/fertigungsverfahren/fmea/" TargetMode="External"/><Relationship Id="rId7" Type="http://schemas.openxmlformats.org/officeDocument/2006/relationships/hyperlink" Target="https://www.sciencedirect.com/topics/engineering/failure-modes-and-effects-analysis" TargetMode="Externa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32688" cy="9326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058400" y="658368"/>
            <a:ext cx="1417320" cy="914400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749808"/>
            <a:ext cx="1417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FMEA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170432"/>
            <a:ext cx="1417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PREVENT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Continuous Process Improvement with FMEA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15968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90288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TGS-2021009031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97880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v11.0  ·  13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54496"/>
            <a:ext cx="10789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80"/>
            <a:ext cx="128016" cy="1920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28600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966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548640"/>
            <a:ext cx="2468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SSG digital-attendance QR code when class starts.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PM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again after lunch when instructed.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the separate attendance before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Funding requirement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and a Competent result are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YOUR TRAINER · GENERAL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4208" y="224028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224028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Trainer Profile Template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754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Trainer completes this profile before delivery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31152" cy="579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579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355080" cy="57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[Trainer name]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526792"/>
            <a:ext cx="6931152" cy="579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526792"/>
            <a:ext cx="91440" cy="579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526792"/>
            <a:ext cx="6355080" cy="57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DESIGNATION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[Title / role]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270504"/>
            <a:ext cx="6931152" cy="579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270504"/>
            <a:ext cx="91440" cy="5791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3270504"/>
            <a:ext cx="6355080" cy="57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[Relevant qualifications]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014216"/>
            <a:ext cx="6931152" cy="579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4014216"/>
            <a:ext cx="91440" cy="579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4014216"/>
            <a:ext cx="6355080" cy="57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EXPERTISE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[Subject-matter strengths]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57928"/>
            <a:ext cx="6931152" cy="579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4757928"/>
            <a:ext cx="91440" cy="579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4757928"/>
            <a:ext cx="6355080" cy="57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EXPERIENCE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[Industry and training experience]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501640"/>
            <a:ext cx="6931152" cy="579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01640"/>
            <a:ext cx="91440" cy="579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5501640"/>
            <a:ext cx="6355080" cy="57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[Approved contact channel]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4208" y="2240280"/>
            <a:ext cx="1554480" cy="1554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224028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754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 Pte Ltd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31152" cy="950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50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355080" cy="9509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Principal Trainer and courseware developer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898648"/>
            <a:ext cx="6931152" cy="950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898648"/>
            <a:ext cx="91440" cy="950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898648"/>
            <a:ext cx="6355080" cy="9509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Process improvement, analytics, automation and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14216"/>
            <a:ext cx="6931152" cy="950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14216"/>
            <a:ext cx="91440" cy="950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14216"/>
            <a:ext cx="6355080" cy="9509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WSQ data, software, cloud and AI programmes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29784"/>
            <a:ext cx="6931152" cy="950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29784"/>
            <a:ext cx="91440" cy="950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29784"/>
            <a:ext cx="6355080" cy="9509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Tertiary Infotech Academy / Tertiary Courses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Name and organisation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Role and process context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One improvement challenge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Your 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Customer and output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One recurring failure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Current measure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Your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Risk to prevent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Capability to improve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Learning outcome for these two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mobile phones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Participate actively—no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Respect different views;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31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18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Maintain at least 75% attendance.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FIVE CONNECTED TOPICS · ONE ORION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Introduction to Continuous Process Improvement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Root Cause Analysis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 and Apply FMEA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and Direct Improvement Opportunities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Topic 5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 Improvement with a Process Control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16 HOURS · 13.5 HOURS TRAINING + 2.5 HOURS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Two-Day Learning Journey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1 · 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Administration, Topic 1 and Activities 1–2: CI system, SIPOC and PDCA.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1 · PM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Topic 2 and Activities 3–4: Pareto, Fishbone, 5 Whys and Fault Tree.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2 · 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Topic 3 and Activities 5–6: build, rate and optimise the Orion PFMEA.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2 · PM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Topics 4–5, Activities 7–10, then 60-minute WA and 90-minute PP.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BY THE END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continuous process improvement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Perform root cause analysis for continuous process improvement.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 and apply Failure Mode and Effects Analysis (FMEA).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and direct improvement opportunities.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ELO5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 and evaluate improvement with a Process Control Plan.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Continuous Process Improvement · ELE-PIN-4001-1.1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Knowledge K1–K4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K1: Identification of continuous improvement opportunities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K2: Direct continuous improvement activities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K3: Management of systems and processes to facilitate continuous improvement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K4: Monitoring and evaluation of continuous improvement processes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Abilities A1–A10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A1: Manage and implement continuous improvement systems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A2: Promote team support and coach team members toward continuous improvement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A3: Gather, access and record production information to track continuous improvements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A4: Analyse, synthesise and interpret information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A5: Design and apply improvement tools and strategies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A6: Monitor and evaluate improvement processes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A7: Identify continuous improvement opportunities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A8: Discuss and direct continuous improvement activities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A9: Manage systems and processes to facilitate continued improvement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61B26"/>
                </a:solidFill>
                <a:latin typeface="Arial"/>
              </a:rPr>
              <a:t>•  A10: Evaluate improvement processes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Individual work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 or copying during assessment.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course slides, Learner Guide and approved materials.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every response and practical deliverable.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Conduct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photos; phones and unrelated materials remain away.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Writing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black/blue pen where hard-copy responses are required.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31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18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Re-assessment and appeal processes are available.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WA + PP · 150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Written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4 open-ended questions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K1–K4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60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Practical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5 connected tasks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A1–A10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90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Competency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Open book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 / NYC outcome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Submit evidence and sign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INDIVIDUAL · OPEN BOOK · COMPETENT / NOT YET COMPETENT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Written Assessment · K1–K4 · 60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Practical Performance · A1–A10 · 90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candidate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COURSE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Hands-On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3566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2880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Open the GitHub repository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Choose Code → Download ZIP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Extract before editing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3566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29968"/>
            <a:ext cx="2880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One folder per activity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Use the starter workbook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Follow detailed steps in the Learner Guide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3566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29968"/>
            <a:ext cx="2880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Run the folder checklist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Compare with the completed sample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Save your evidence clearly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596128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https://github.com/tertiarycourses/TGS-2021009031-Continuous-Process-Improvement-with-FMEA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LMS-TMS.TERTIARYINFOTECH.COM · VISUAL DOWNLOAD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LMS/TMS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Select this course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courseware links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Download and extract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the matching activity folder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PRACTICE EXAM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Practice and Readiness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3566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2880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Revisit K1–K4 and A1–A10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Open completed activity evidence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Explain decisions, not only scores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3566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29968"/>
            <a:ext cx="2880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Practise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Use the assigned FMEA practice set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Work individually first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Retain formulas and rationale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3566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29968"/>
            <a:ext cx="2880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Reflect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Trace action to failure mechanism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 residual risk and controls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State one limitation and next 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596128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7C3AED"/>
                </a:solidFill>
                <a:latin typeface="Arial"/>
                <a:hlinkClick r:id="rId2"/>
              </a:rPr>
              <a:t>https://exams.tertiaryinfotech.com/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3D3E"/>
                </a:solidFill>
                <a:latin typeface="Arial"/>
              </a:rPr>
              <a:t>ONE CASE · TEN ACTIVITIES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Connected Case — Orion Precision Electronics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Surface-mount technology (SMT) assembly of industrial sensor-controller boards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Rising solder defects, rework, late lots and two customer returns after a new product ramp-up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Reduce first-pass defects, stabilise cycle time and prevent recurrence through a living PFMEA and Control Plan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Learning path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→ analyse → anticipate → improve →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80"/>
            <a:ext cx="128016" cy="1920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28600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966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Introduction to Continuous Process Improvement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069080"/>
            <a:ext cx="9784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Culture · governance · PDCA · process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548640"/>
            <a:ext cx="2468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ELO1 · A1 · A2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Continuous Improvement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System, not event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Continuous improvement is a managed cycle of evidence, action, learning and standardisation.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People closest to work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Operators and technicians surface weak signals and practical constraints.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PDCA discipline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Test a defined change, compare evidence and standardise only what works.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Shared process 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SIPOC and a process map establish boundaries before analysis begins.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385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87168"/>
            <a:ext cx="10241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700" b="1">
                <a:solidFill>
                  <a:srgbClr val="161B26"/>
                </a:solidFill>
                <a:latin typeface="Arial"/>
              </a:rPr>
              <a:t>Improvement is a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70832"/>
            <a:ext cx="9966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workshop creates ideas; a system creates repeatable learning, ownership and control.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continuous improvement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Performance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Reduce defects, delay, cost and instability against a defined baseline.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Build reliable processes that repeatedly meet customer and regulatory needs.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Turn experiments, failures and operator knowledge into standard work.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Culture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Make problem visibility safe and improvement part of normal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Continuous improvement and breakthrough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Frequent, evidence-led adjustments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Lower implementation risk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Builds habits and process knowledge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Larger redesign or technology shift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Higher uncertainty and coordination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May be necessary when the current system is structurally incapable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Lean, Six Sigma and FMEA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Improve flow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Remove non-value work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Shorten lead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Six Sigma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Reduce variation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Use data to test causes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Improve capability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FMEA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Anticipate failure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Prioritise prevention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Link risk to controls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culture that can improve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Will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Leaders make priorities and trade-offs explicit.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Skill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Teams know how to frame, analyse, test and control.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Authority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Owners can act within agreed boundaries.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Guidance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Coaching and standards turn tools into good judgement.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Continuous improvement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Sponsor sets direction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Process owner defines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Cross-functional team analyses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Action owners implement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Governance reviews 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PDCA turns change into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828800"/>
            <a:ext cx="4572000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828800"/>
            <a:ext cx="109728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1600" y="217627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76272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029968"/>
            <a:ext cx="31546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Plan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gap, target and hypothesis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828800"/>
            <a:ext cx="4572000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109728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0" y="217627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176272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029968"/>
            <a:ext cx="31546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at controlled scale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069080"/>
            <a:ext cx="4572000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069080"/>
            <a:ext cx="109728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75120" y="441655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416552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4270248"/>
            <a:ext cx="31546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Check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evidence and side effects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4069080"/>
            <a:ext cx="4572000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4069080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371600" y="441655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4416552"/>
            <a:ext cx="6583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4270248"/>
            <a:ext cx="31546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Act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standardise, adjust or abandon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7216" y="3383280"/>
            <a:ext cx="1874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LEARN 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with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Problem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Current versus required performance, with scope and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Trusted operational data and agreed definitions.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Target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Specific outcome, measure and time horizon.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Hypothesis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Why the proposed countermeasure should change the result.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Team roles in improvement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Sponsor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Removes barriers and protects the business priority.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Process owner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Owns performance and the post-project control 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Facilitator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Keeps the method rigorous and participation balanced.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Operators and experts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Provide actual-work knowledge and test feasibility.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owner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Protects definitions, lineage and evidence quality.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31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18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Action owner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Implements, verifies and documents a countermeasure.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SIPOC establishes the analysis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Suppliers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Outputs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Customers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Voice of customer and voice of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Needs, complaints and field effects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Critical-to-quality expectations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What failure means to the user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Yield, cycle time and defect mechanisms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Variation, controls and capability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What the operation can repeatedly deliver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Coaching for team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Ask before telling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questions to surface assumptions and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Make work visible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boards, owners and dates so risk is shared.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Reinforce learning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Review what changed and why, not only the result.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Protect candour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Treat an exposed weakness as useful information.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01 · A1, A2,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Launch the Orion Continuous Improvement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Orion's SMT line has competing priorities, informal escalation and no shared definition of success.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Build a one-page improvement charter and team operating system for the connected Orion case.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CI charter, role map, coaching cadence and daily/weekly review 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Excel charter workbook · CI coaching checklist · PDCA governance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01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governance, coaching and visible management for the improvement effort.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decision belongs to the sponsor rather than the team?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will the process owner know the improvement is sustained?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reviewer can identify the gap, target, measures, owners, cadence and coaching approach without asking for missing definitions.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01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 reviewer can identify the gap, target, measures, owners, cadence and coaching approach without asking for missing definitions.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02 · A1, A2,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Define the Process with SIPOC and PDCA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team disagrees about whether stencil preparation, printing, placement or reflow belongs in scope.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Build an agreed SIPOC, high-level flow and PDCA experiment plan before root-cause analysis.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SIPOC, five-stage SMT process map, stakeholder needs and PDCA experiment canvas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SIPOC web tool · Excel workbook · PDCA hypothesis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02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Set a process boundary and convert the improvement goal into a testable PDCA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is deliberately out of scope?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requirement will later appear as a function in the PFMEA?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SIPOC boundary is unambiguous and the PDCA hypothesis contains change, predicted outcome, measure and guardrail.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02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SIPOC boundary is unambiguous and the PDCA hypothesis contains change, predicted outcome, measure and guardrail.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Recap — Introduction to Continuous Process Improvement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Concept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Continuous improvement is a managed cycle of evidence, action, learning and standardisation.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Operators and technicians surface weak signals and practical constraints.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CI charter, role map, coaching cadence and daily/weekly review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one workplace risk, evidence source and next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80"/>
            <a:ext cx="128016" cy="1920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28600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966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Root Cause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069080"/>
            <a:ext cx="9784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Evidence · Pareto · Fishbone · 5 Whys · Fault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548640"/>
            <a:ext cx="2468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ELO2 · A3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Root 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Describe the gap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good problem statement names the measure, location, timing and magnitude without guessing the cause.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Separate cause from symptom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customer effect, process failure and causal mechanism belong at different levels.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Triangulate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data prioritisation, structured brainstorming and verification together.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Mechanism over blame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Useful causes describe how the process creates failure and point toward controllable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385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TOPIC 02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87168"/>
            <a:ext cx="10241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700" b="1">
                <a:solidFill>
                  <a:srgbClr val="161B26"/>
                </a:solidFill>
                <a:latin typeface="Arial"/>
              </a:rPr>
              <a:t>A root cause is a verified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70832"/>
            <a:ext cx="9966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It is not the first plausible explanation, a correlation, or the person nearest the failure.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neutral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measurable defect, delay or performance gap.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Process step, line, product family or customer segment.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When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Start, pattern, shift, period or change point.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How much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Magnitude, rate, trend and business/customer impact.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Cause, failure and consequence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Cause: stencil aperture partly blocked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Mechanism: insufficient paste transfer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Controllable through cleaning and verification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Failure mode: insufficient solder joint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Effect: intermittent signal or field return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Observed symptom is not automatically the root cause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Pareto focuses the investigation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mea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810512"/>
            <a:ext cx="7315200" cy="4251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02752" y="1828800"/>
            <a:ext cx="3090672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13648" y="215798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READ THE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2697480"/>
            <a:ext cx="24231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Solder bridge is the largest category.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The cumulative line shows concentration.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Priority is not proof of cause.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 a Pareto chart correctly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Rank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Bars order categories by frequency or impact.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Cumulative line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Shows how quickly the categories account for the total.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Stratify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shift, product and machine before combining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 not overclaim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largest category is a priority, not yet a cause.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Fishbone structures possible causes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3657600"/>
            <a:ext cx="7955279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3273552"/>
            <a:ext cx="14630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DC2626"/>
                </a:solidFill>
                <a:latin typeface="Arial"/>
              </a:rPr>
              <a:t>BRIDGE
DEFECT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2011680"/>
            <a:ext cx="1965960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214884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People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39" y="2651760"/>
            <a:ext cx="45720" cy="10241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011680"/>
            <a:ext cx="1965960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14884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2651760"/>
            <a:ext cx="45720" cy="10241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12279" y="2011680"/>
            <a:ext cx="1965960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79" y="214884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59" y="2651760"/>
            <a:ext cx="45720" cy="10241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65960" y="4251960"/>
            <a:ext cx="1965960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438912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Material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39" y="3685032"/>
            <a:ext cx="45720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0" y="4251960"/>
            <a:ext cx="1965960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438912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Measurement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3685032"/>
            <a:ext cx="45720" cy="566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12279" y="4251960"/>
            <a:ext cx="1965960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79" y="438912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Environment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59" y="3685032"/>
            <a:ext cx="45720" cy="566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brainstorm to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Candidate cause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Write a specific mechanism, not a vague label.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Prediction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what data pattern would be expected if it were true.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lots, shifts, machines, materials or controlled trials.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Confirm, reject or keep open with the next evidence needed.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Five Whys follows one causal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Observed failure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Immediate mechanism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Process condition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System weakness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Controllable root cause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Strong and weak 5 Whys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Each answer is evidence-supported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The chain stays on one mechanism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The endpoint suggests a system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Jumps between unrelated branches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Ends with 'operator error'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Treats five as a magic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Tree Analysis tests combinations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3400" y="1828800"/>
            <a:ext cx="3429000" cy="7772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993392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Top event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596896"/>
            <a:ext cx="45720" cy="3017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32120" y="2880360"/>
            <a:ext cx="1051560" cy="10515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2880360"/>
            <a:ext cx="1051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3913632"/>
            <a:ext cx="45720" cy="2834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23744" y="4169663"/>
            <a:ext cx="7607808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4169663"/>
            <a:ext cx="45720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370832"/>
            <a:ext cx="3246120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2880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Excess paste deposited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169663"/>
            <a:ext cx="45720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09160" y="4370832"/>
            <a:ext cx="3246120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4553712"/>
            <a:ext cx="2880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Components bridge after placement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4169663"/>
            <a:ext cx="45720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03920" y="4370832"/>
            <a:ext cx="3246120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4553712"/>
            <a:ext cx="2880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Paste slumps during reflow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7150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Gates make causal combinations explicit; evidence tests the basic events.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Fishbone, 5 Whys and Fault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Fishbone widens the search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5 Whys deepens one likely chain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 when mechanisms are still being explored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Fault Tree formalises logical combinations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Supports safety and reliability reasoning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 when several paths can create the top 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quality checks before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Are defect categories and denominators consistent?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Can inspectors or sensors reproduce the classification?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Completeness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Are rework, scrap and escaped defects all represented?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Are product mix, shift and process changes recorded?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03 · A3,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Prioritise the Defect Pattern with Pareto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Orion has 240 inspection records across products, shifts and printing machines but anecdotes point in different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Validate the dataset, build a Pareto view and identify the defect/stratum requiring deeper analysis.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Clean defect log, frequency summary, cumulative percentage and interactive Pareto chart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Excel Table · COUNTIFS · SUM · cumulative percentage · Pareto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03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Gather, validate and interpret production information to focus the investigation.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is the leading defect and how much of the total does it represent?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stratum shows the strongest signal, and what limitation remains?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Pareto counts reconcile to the source, cumulative percentage reaches 100%, and the conclusion distinguishes priority from cause.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03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Pareto counts reconcile to the source, cumulative percentage reaches 100%, and the conclusion distinguishes priority from cause.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04 · A3,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Verify Root Causes with Fishbone, 5 Whys and Fault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Solder bridging is concentrated on Printer P2 during the late shift, but the causal mechanism is not yet verified.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three complementary RCA tools, then convert candidate causes into evidence tests and corrective-action hypotheses.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6M Fishbone, evidence-backed 5 Whys, fault tree and cause-verification matrix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Fishbone tool · 5 Whys tool · Fault Tree · verification 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04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Analyse evidence and build a defensible causal explanation for the leading defect.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cause is a mechanism rather than a label?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observation would disconfirm the preferred explanation?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one cause is supported by a reproducible evidence test, the fault-tree logic is valid, and no conclusion relies on blame.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04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At least one cause is supported by a reproducible evidence test, the fault-tree logic is valid, and no conclusion relies on blame.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Root 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Concept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good problem statement names the measure, location, timing and magnitude without guessing the cause.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customer effect, process failure and causal mechanism belong at different levels.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Clean defect log, frequency summary, cumulative percentage and interactive Pareto chart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one workplace risk, evidence source and next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657600"/>
            <a:ext cx="121916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FMEA design · improvement action · process control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80"/>
            <a:ext cx="128016" cy="1920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28600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966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Design and Apply FMEA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069080"/>
            <a:ext cx="9784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Scope · function · failure chain · risk · action ·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548640"/>
            <a:ext cx="2468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ELO3 · A5 · A6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Design and Apply FMEA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Prospective thinking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FMEA asks what could fail before the next customer or process loss occurs.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Failure chain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Function → failure mode → effect → cause → controls makes risk traceable.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Risk-informed 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Severity, occurrence and detection guide judgement; RPN alone never grants permission to ignore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Living knowledge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Actions, verification, re-rating and review triggers keep the FMEA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385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03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87168"/>
            <a:ext cx="10241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700" b="1">
                <a:solidFill>
                  <a:srgbClr val="161B26"/>
                </a:solidFill>
                <a:latin typeface="Arial"/>
              </a:rPr>
              <a:t>FMEA is prevention made visible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70832"/>
            <a:ext cx="9966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It documents what might fail, why it matters, what controls exist and who will reduce the risk.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When FMEA has the most leverage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New design or process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Prevent known patterns before approval or launch.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Changed 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Reassess risk when a product or process enters a new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Improvement goal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Anticipate failure introduced by the proposed 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Before Control Plan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Convert prioritised risks into prevention and detection controls.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 common FMEA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System FMEA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Interfaces and interactions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System functions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Cross-boundary effects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Design FMEA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Product functions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Materials and geometry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Design prevention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Process FMEA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How production introduces defects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6M causes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Feeds the Control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Prospective FMEA and retrospective 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Asks: what could fail?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Acts before the next loss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Uses functions, experience and change knowledge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Asks: what happened and why?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Acts after a failure signal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Verified findings should update the FMEA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Seven-step FMEA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2840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2840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3519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351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02804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Plan &amp; 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388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5638" y="2240280"/>
            <a:ext cx="12840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5638" y="2240280"/>
            <a:ext cx="12840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611917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191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3654" y="3685032"/>
            <a:ext cx="102804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228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4036" y="2240280"/>
            <a:ext cx="12840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94036" y="2240280"/>
            <a:ext cx="12840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70315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703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2052" y="3685032"/>
            <a:ext cx="102804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Function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068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52434" y="2240280"/>
            <a:ext cx="12840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52434" y="2240280"/>
            <a:ext cx="12840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728713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2871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80450" y="3685032"/>
            <a:ext cx="102804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908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10832" y="2240280"/>
            <a:ext cx="12840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10832" y="2240280"/>
            <a:ext cx="12840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287111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711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8848" y="3685032"/>
            <a:ext cx="102804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Risk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7478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69230" y="2240280"/>
            <a:ext cx="12840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69230" y="2240280"/>
            <a:ext cx="12840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45509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4550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7246" y="3685032"/>
            <a:ext cx="102804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Optimise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587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27628" y="2240280"/>
            <a:ext cx="12840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27628" y="2240280"/>
            <a:ext cx="12840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403907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0390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55644" y="3685032"/>
            <a:ext cx="102804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Document results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 · METHOD SPOTLIGHT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240280"/>
            <a:ext cx="1325880" cy="1325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132588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81051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METHOD STAGE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873252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Connect function, failure mode, effect and cause before assigning scores.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3886200"/>
            <a:ext cx="8732520" cy="1143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4133087"/>
            <a:ext cx="81838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exact workbook procedure is in Activity 05 and the Learner Guide.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Step 1 — planning and preparation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the decision the FMEA must support.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product/process boundaries and interfaces.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Team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Include design, process, quality, maintenance and operators.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Inputs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Gather flow maps, complaints, controls, changes and lessons.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Steps 2–3 — structure and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Break the process into logical steps and focus elements.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Interfaces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Show upstream, downstream and support interactions.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Function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verb–noun language with a measurable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Requirement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the expected output, tolerance or customer need.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Step 4 — build the failure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Function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Failure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Effect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Current controls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Write useful failure statements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Failure mode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Loss, partial, intermittent, excessive or unintended function.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Effect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What the next operation, system or customer experiences.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specific mechanism or process condition that creates the mode.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What prevents the cause or detects cause/mode before escape.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Prevention and detection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Remove or reduce the cause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Standard work, robust design, interlock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Influences occurrence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Reveal cause or failure before escape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Sensor, test, inspection, alarm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Influences detection ranking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Step 5 — S, O and D describe different risk dimensions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C2626"/>
                </a:solidFill>
                <a:latin typeface="Arial"/>
              </a:rPr>
              <a:t>SEVERITY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Consequence of the effect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Score the most serious credible effect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59E0B"/>
                </a:solidFill>
                <a:latin typeface="Arial"/>
              </a:rPr>
              <a:t>OCCURRENCE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Likelihood of the stated cause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Use prevention and evidence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Ability to detect before impact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Higher score means weaker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Severity rating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Customer effect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Rate the most serious credible effect for the failure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Consistent scale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one agreed 1–10 table and record the rationale.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Safety/regulatory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Escalate high-severity concerns regardless of a modest RPN.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Design change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Detection alone does not reduce the consequence severity.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Occurrence rating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Cause-specific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Rate the likelihood of the stated causal mechanism.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Prefer capability, defect, maintenance or comparable-history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Prevention matters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Strong prevention can reduce occurrence.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Assumptions visible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Record uncertainty and the basis for the score.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Detection rating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Higher means weaker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high D score means the failure is hard to detect.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Control-specific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Rate the actual detection control, not intended inspection.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Before effect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Ask whether the cause or mode is caught before customer impact.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validation, gauge reliability and escape history.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RPN is useful—but incomplete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Calculate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RPN = S × O × D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Range 1–1000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Useful for sorting and trending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Interpret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Ordinal ratings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Same RPN can hide different profiles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Record scoring rationale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Guardrail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No fixed cutoff as permission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Severity first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Use team judgement and Action Priority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Same number, different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S=10, O=2, D=2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RPN = 40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Potentially safety-critical effect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S=5, O=4, D=2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RPN = 40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Different consequence and action logic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Step 6 — optimise in the right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Eliminate or reduce the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Prevent the cause / reduce occurrence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Improve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Assign owner and due 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then re-rate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Strong recommended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Specific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Names the change, location and failure mechanism.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Owned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accountable owner and a realistic due 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Verifiable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Defines evidence that proves implementation and effectiveness.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Traceable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Links to the PFMEA row, change record and Control Plan.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Step 7 — document and sustain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Record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Confirm 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Re-score verified 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Update Control Plan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Set review triggers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Review triggers for a living FMEA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Engineering change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New material, equipment, tooling, software or parameter.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Process signal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Capability loss, special cause, defect trend or downtime.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Customer signal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Complaint, return, field failure or changed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RCA, audit, maintenance finding or supplier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FMEA pitfalls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Scope creep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boundary too broad prevents meaningful depth.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Template completion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Scoring without insight or action creates false assurance.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RPN gaming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Adjusting ratings to cross a threshold hides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Missing operators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team loses actual-work failure knowledge.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ownership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Actions without owner/date remain recommendations.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31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18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Stale document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frozen FMEA stops reflecting the real process.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05 · A5, A6,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the Orion Process FMEA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team must turn the SIPOC, process flow, defect evidence and RCA findings into a traceable PFMEA.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PFMEA rows from process function through effect, mode, cause and current prevention/detection controls.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PFMEA header, process/function structure and at least eight complete failure chains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PFMEA Excel template · S/O/D rating guides · evidence references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05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structure, function and failure analysis to the scoped SMT process.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each failure mode describe loss of a stated function?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cause-control pair lacks evidence?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row forms a coherent function–mode–effect–cause chain, controls are correctly classified, and evidence references are traceable.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05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row forms a coherent function–mode–effect–cause chain, controls are correctly classified, and evidence references are traceable.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06 · A5, A6,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Rate Risk, Plan Actions and Re-score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Several Orion rows have similar RPNs but different customer and safety consequences.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Rate S/O/D consistently, avoid threshold gaming, assign actions and verify risk reduction.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Rated PFMEA with RPN formulas, internal action-priority guardrail, owners, due dates and post-action scores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Excel formulas · conditional formatting · action register · 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06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Prioritise PFMEA actions using severity-first judgement, RPN context and verified re-rating.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Why can an RPN of 40 require more urgent action than an RPN of 108?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rating should change after adding only a better inspection?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 RPN formulas are correct, severe risks remain visible, actions have ownership/evidence, and post-action ratings match the control change.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06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RPN formulas are correct, severe risks remain visible, actions have ownership/evidence, and post-action ratings match the control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Design and Apply FMEA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Concept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FMEA asks what could fail before the next customer or process loss occurs.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Function → failure mode → effect → cause → controls makes risk traceable.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PFMEA header, process/function structure and at least eight complete failure chains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one workplace risk, evidence source and next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80"/>
            <a:ext cx="128016" cy="1920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28600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966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Identify and Direct Improvement Opportunities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069080"/>
            <a:ext cx="9784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Prioritise · select · pilot · coach · implement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548640"/>
            <a:ext cx="2468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ELO4 · A7 · A8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Improvement Opportunities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Target the failure mechanism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Prevention is stronger than inspection when the cause can be removed or constrained.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Choose transparently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Decision criteria make trade-offs visible and reduce preference-driven selection.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Pilot before scale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bounded test checks benefit, side effects, capability and adoption.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Direct with ownership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action needs an owner, due date, success measure and escalation path.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385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TOPIC 04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87168"/>
            <a:ext cx="10241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700" b="1">
                <a:solidFill>
                  <a:srgbClr val="161B26"/>
                </a:solidFill>
                <a:latin typeface="Arial"/>
              </a:rPr>
              <a:t>The best action changes the failure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70832"/>
            <a:ext cx="9966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Inspection may catch a defect; prevention changes why it occurs.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risk to improvement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High-priority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Countermeasure options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Decision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Pilot and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Approved implementation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Countermeasure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Prevent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Eliminate the cause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Robust design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Poka-yoke or interlock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Reduce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Improve capability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Control variation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Standard work and maintenance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Automated checks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Validated inspection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Fast containment signal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Opportunity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PFMEA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High severity, Action Priority, occurrence and weak detection.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Pareto and RCA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Recurring defects and verified mechanisms.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Capability and SPC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Unstable or incapable critical characteristics.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People and customers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Operator constraints, complaints and near misses.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DMAIC provides a project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Clarify the customer, problem, scope, target and ownership.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Validate definitions and establish a trustworthy baseline.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Analyse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Prioritise patterns and verify causal mechanisms.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Improve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Select, pilot and implement countermeasures.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Monitor, react, standardise and transfer ownership.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31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18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Relationship to PDCA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Both are evidence-led cycles; DMAIC gives a detailed improvement-project structure.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5S supports stable process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Remove items that are not needed for the 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Set in order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Make the correct item and sequence obvious.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Clean while inspecting for early abnormality.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Standardise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a repeatable condition and visual method.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Sustain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Audit, coach and correct drift as normal work.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DOE tests factors and interactions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Plan combinations of factor levels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Estimate main effects and interactions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 randomisation, replication and blocking where appropriate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Do not change many factors informally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Confirm measurement and process stability first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 statistical expertise for safety-critical or complex designs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Evaluation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 reduction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Expected change to severity, occurrence or detection.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Effectiveness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Strength of evidence and fit to the causal mechanism.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Feasibility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Skills, time, technology and operational constraints.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and speed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Investment, lifecycle cost and time to benefit.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Side effects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New failure modes, workload or compliance concerns.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31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18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Sustainability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Ability to standardise, train, monitor and maintain.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Weighted criteria matrix and Pugh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Scores options against weighted criteria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Useful when priorities differ in importance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Shows a total and sensitivity to weights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Compares each option with a datum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Uses better / same / worse reasoning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Useful for concept screening and discussion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Cost-benefit without false precision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Benefit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Avoided scrap, rework, downtime, complaints and risk exposure.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Capital, validation, training, maintenance and transition loss.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one-off savings from recurring annual impact.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Uncertainty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Show assumptions and ranges instead of one confident number.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Pilot learning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Hypothesis and success measures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Safe scope and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with controls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result and side effects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Decide scale / revise / stop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credible 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Representative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Covers the relevant product, shift and failure conditions.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Limits customer and production risk during the test.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Uses defined input, process and outcome measures.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Reversible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Includes a stop rule and recovery plan.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Poka-yoke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Physical fit or sensor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Detects shape/position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Prevents wrong assembly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Fixed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Counts required items or actions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Signals omissions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Useful for kits and fasteners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Motion sequence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Enforces task order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Interlock or checklist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Prevents skipped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Direct and coach the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Explain the customer/risk reason for the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Demonstrate, observe and let the operator perform.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Feedback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 the method and invite actual-work concerns.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Follow-up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adoption, outcome and unintended effects.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Implementation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Owner and date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accountable person and milestone.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Change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Approved specification, work instruction and training.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Evidence the action was installed as intended.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Effectiveness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Evidence it reduced risk without creating new failure.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07 · A7, A8,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 the Improvement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Orion can fund only two of five proposed improvements during the next production quarter.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weighted criteria, Pugh comparison and cost-benefit ranges to recommend a balanced action portfolio.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Opportunity register, weighted decision matrix, Pugh matrix and cost-benefit summary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Excel decision analysis · sensitivity check · PFMEA traceability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07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and compare risk-reduction opportunities using transparent criteria.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the top score remain top when cost weight doubles?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option prevents the cause rather than merely detecting the defect?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recommendation traces to PFMEA risks, calculations are formula-driven, assumptions are visible and trade-offs are explicitly discussed.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07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recommendation traces to PFMEA risks, calculations are formula-driven, assumptions are visible and trade-offs are explicitly discussed.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08 · A7, A8,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Pilot, Direct and Coach the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Orion will pilot an automated stencil-cleaning trigger and first-piece verification on Printer P2.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Design the pilot, success measures, reaction rules, standard-work change and operator coaching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Pilot charter, before/after measurement plan, risk guardrails, training and coaching checklist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PDCA pilot · change control · MOC checklist · coaching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08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Plan a controlled pilot and direct team implementation with coaching and change safeguards.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would cause the pilot to stop immediately?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will the coach distinguish non-adoption from an ineffective countermeasure?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pilot is measurable, contained and reversible; the change has approvals, training and a documented scale/revise/stop rule.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08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pilot is measurable, contained and reversible; the change has approvals, training and a documented scale/revise/stop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Recap — Identify and Direct Improvement Opportunities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Concept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Prevention is stronger than inspection when the cause can be removed or constrained.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Decision criteria make trade-offs visible and reduce preference-driven selection.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Opportunity register, weighted decision matrix, Pugh matrix and cost-benefit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one workplace risk, evidence source and next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80"/>
            <a:ext cx="128016" cy="1920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28600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966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Manage Improvement with a Process Control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069080"/>
            <a:ext cx="9784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Variation · capability · SPC · reaction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548640"/>
            <a:ext cx="2468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ELO5 · A9 · A10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Process Control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Control the critical few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Translate high-risk PFMEA causes and characteristics into practical controls.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 the variation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Common-cause variation needs system improvement; special causes need investigation.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React by design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Control Plan must state who acts, what is contained and how the process restarts.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Close the loop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Control results, incidents and changes feed back into the PFMEA and standard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385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05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87168"/>
            <a:ext cx="10241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700" b="1">
                <a:solidFill>
                  <a:srgbClr val="161B26"/>
                </a:solidFill>
                <a:latin typeface="Arial"/>
              </a:rPr>
              <a:t>Control is a feedback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70832"/>
            <a:ext cx="9966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stable process detects meaningful change, contains risk and learns before the customer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Common-cause and special-cause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Built into the current system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Many small sources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Improve the process as a 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Specific, unusual signal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Assignable event or condition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Investigate and remove the cause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Stability and capability answer different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Is the process behaviour predictable over time?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Can a stable process meet specification consistently?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Sequence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stability before interpreting capability indices.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Customer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Specifications come from requirements; control limits come from process data.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Cp and Cpk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Potential capability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Specification width ÷ 6σ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Assumes centring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Cpk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Actual centring-aware capability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Minimum distance to limit ÷ 3σ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Cpk ≤ 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39112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Interpret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43200"/>
            <a:ext cx="285292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Use stable data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Confirm distribution and measurement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Report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control chart separates signal from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mea-control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498079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1828800"/>
            <a:ext cx="297180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14232" y="2148840"/>
            <a:ext cx="2377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CONTROL ≠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4232" y="2697480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Limits describe process behaviour.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 signal prompts investigation.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Capability compares stable variation with specifications.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limits and specification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Calculated from process behaviour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Support stability decisions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Not changed to make the chart look better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Defined by customer/design requirement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Support conformance decisions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Do not describe natural process variation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Control-chart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Point beyond a limit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Immediate special-cause investigation.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on one side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Possible process shift.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Trend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Gradual change, wear or drift.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Cycle or clustering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Time pattern, batching or stratification.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Control Plan operationalises the PFMEA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Process step / characteristic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Specification and method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Sample size and frequency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Owner and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Reaction plan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selection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Risk-based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Strength and frequency reflect severity, occurrence and escape risk.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 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Control as close as possible to the causal process condition.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Capable measurement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method can reliably distinguish acceptable from unacceptable.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Actionable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signal must trigger a defined response, not only a record.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Reaction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Stop or contain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Identify affected product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Notify 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Correct and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Release and update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Monitoring and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07492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Leading: parameter adherence, preventive maintenance, alarm rate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Detect drift before outcome loss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Useful for early intervention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783080"/>
            <a:ext cx="507492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011680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Contrast /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45262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Lagging: defect, scrap, rework, return, downtime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Confirms realised outcome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•  Useful for accountability and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an improvement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Effectiveness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Did the targeted measure improve against baseline?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Sustainment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Did the result persist across time, shift and product mix?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Side effects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Did another defect, delay or workload appear?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Adoption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Is standard work followed and understood?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Are PFMEA ratings and controls updated with evidence?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31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18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What should be standardised, transferred or investigated next?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Closed-loop improvement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Monitor control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Detect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Contain and investigate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Update PFMEA and 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Revise Control Plan and standard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Governance review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 risk?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Are high-severity and high-priority items visible?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 evidence?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Are ratings, capability and results based on trusted data?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 action?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Does the countermeasure address the verified mechanism?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 control?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Will drift be detected and contained in time?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09 · A9, A10,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Stability and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After the pilot, Orion has 30 daily solder-paste-volume samples and bridge-defect results.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Build a control chart, investigate signals and calculate Cp/Cpk only after checking stability and assumptions.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Time-series dataset, control chart, signal log, capability calculation and evaluation statement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Excel AVERAGE · STDEV.S · UCL/LCL formulas · Cp/Cpk · trend 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09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Monitor improvement performance using time order, control limits and capability measures.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Why can a stable process still be incapable?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does Cpk below Cp reveal?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Limits are formula-driven, signals are not confused with specification failures, capability is interpreted with stability and measurement caveats.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09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Limits are formula-driven, signals are not confused with specification failures, capability is interpreted with stability and measurement caveats.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ACTIVITY 10 · A9, A10,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Create the Process Control Plan and Review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812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6263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ORION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0048"/>
            <a:ext cx="62636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Orion must hand the improved SMT process back to production without losing the risk knowledge created by the team.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97680"/>
            <a:ext cx="6263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18304"/>
            <a:ext cx="6263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deployable Control Plan linked to PFMEA rows, validated controls and governance review.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1828800"/>
            <a:ext cx="3529584" cy="1874519"/>
          </a:xfrm>
          <a:prstGeom prst="rect">
            <a:avLst/>
          </a:prstGeom>
          <a:solidFill>
            <a:srgbClr val="0F3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212140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633472"/>
            <a:ext cx="2971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Process Control Plan, reaction plan, audit checklist, control-to-PFMEA trace matrix and review calendar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2127" y="3931920"/>
            <a:ext cx="3529584" cy="2057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422452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TOOLS AND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709160"/>
            <a:ext cx="2971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Excel Control Plan · PFMEA traceability · reaction plan · sustainment 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GOOD WORK LOOKS LIKE · PROCEDURE IN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10 — Decision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Translate PFMEA risks into operational controls, reaction plans and FMEA review triggers.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PFMEA risk has no adequate operational control?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event triggers immediate PFMEA review?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critical PFMEA risk has an owned control and reaction plan, traceability is complete, and review triggers close the learning loop.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BEFORE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10 — Learning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47088"/>
            <a:ext cx="6720840" cy="41148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6126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3D3E"/>
                </a:solidFill>
                <a:latin typeface="Arial"/>
              </a:rPr>
              <a:t>✓  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16352"/>
            <a:ext cx="5989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critical PFMEA risk has an owned control and reaction plan, traceability is complete, and review triggers close the learning 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919472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3D3E"/>
                </a:solidFill>
                <a:latin typeface="Arial"/>
              </a:rPr>
              <a:t>PASS = complete · traceable · evidence-based · 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47088"/>
            <a:ext cx="3639312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13969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651760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Completed workbook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Recorded decision and 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968496"/>
            <a:ext cx="3639312" cy="19933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4251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75488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Formula outputs reconcile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Assumptions are visible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Next action has an 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Recap — Manage Improvement with a Process Control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Concept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Translate high-risk PFMEA causes and characteristics into practical controls.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Common-cause variation needs system improvement; special causes need investigation.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Time-series dataset, control chart, signal log, capability calculation and evaluation statement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one workplace risk, evidence source and next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80"/>
            <a:ext cx="128016" cy="1920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28600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966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Course Summary &amp;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548640"/>
            <a:ext cx="2468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170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continuous process improvement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22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Perform root cause analysis for continuous process improvement.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91440" cy="1322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 and apply Failure Mode and Effects Analysis (FMEA).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07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07080"/>
            <a:ext cx="91440" cy="1322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398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and direct improvement opportunities.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31080"/>
            <a:ext cx="5180076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31080"/>
            <a:ext cx="91440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4128" y="5218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218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22520"/>
            <a:ext cx="3991356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ELO5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 and evaluate improvement with a Process Control Plan.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SOURCE-ALIGNED COURSEWARE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FMEA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074920" cy="10789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0789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929384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ASQ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9192" y="1892808"/>
            <a:ext cx="2907792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FMEA purpose, timing and team 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79" y="1783080"/>
            <a:ext cx="5074920" cy="10789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79" y="1783080"/>
            <a:ext cx="91440" cy="10789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1" y="1929384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0B981"/>
                </a:solidFill>
                <a:latin typeface="Arial"/>
                <a:hlinkClick r:id="rId3"/>
              </a:rPr>
              <a:t>Jama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1892808"/>
            <a:ext cx="2907792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Seven-step method, Action Priority and RPN cautions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36391"/>
            <a:ext cx="5074920" cy="10789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136391"/>
            <a:ext cx="91440" cy="10789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82695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C3AED"/>
                </a:solidFill>
                <a:latin typeface="Arial"/>
                <a:hlinkClick r:id="rId4"/>
              </a:rPr>
              <a:t>Quality-One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9192" y="3246119"/>
            <a:ext cx="2907792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Functions, controls, action ownership and re-rating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79" y="3136391"/>
            <a:ext cx="5074920" cy="10789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79" y="3136391"/>
            <a:ext cx="91440" cy="1078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1111" y="3282695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Arial"/>
                <a:hlinkClick r:id="rId5"/>
              </a:rPr>
              <a:t>PMC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246119"/>
            <a:ext cx="2907792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FMEA as a prospective safety and risk-control tool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489704"/>
            <a:ext cx="5074920" cy="10789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489704"/>
            <a:ext cx="91440" cy="10789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360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  <a:hlinkClick r:id="rId6"/>
              </a:rPr>
              <a:t>IPH Hannover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79192" y="4599432"/>
            <a:ext cx="2907792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German industrial FMEA practice and prevention context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79" y="4489704"/>
            <a:ext cx="5074920" cy="10789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79" y="4489704"/>
            <a:ext cx="91440" cy="10789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11111" y="46360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0B981"/>
                </a:solidFill>
                <a:latin typeface="Arial"/>
                <a:hlinkClick r:id="rId7"/>
              </a:rPr>
              <a:t>ScienceDirect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599432"/>
            <a:ext cx="2907792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Engineering overview and related reliability concepts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both assessment instruments independently.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Approved resources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only the course materials allowed by the assessor.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the exact evidence named in each task.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Clarification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 about instructions—not answers.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INDIVIDUAL · OPEN BOOK · COMPETENT / NOT YET COMPETENT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5199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5199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246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58998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8998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6957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6957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7014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Written Assessment · K1–K4 · 60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9004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0756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0756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8772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Practical Performance · A1–A10 · 90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762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2514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2514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10473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0473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0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candidate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2520" y="3364992"/>
            <a:ext cx="3474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4272" y="2240280"/>
            <a:ext cx="190743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4272" y="2240280"/>
            <a:ext cx="190743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2231" y="260604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2231" y="260604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2288" y="3685032"/>
            <a:ext cx="1651406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84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551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Scan before the assessment starts.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84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1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1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Competency record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WA and PP and sign the summary record.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80"/>
            <a:ext cx="91440" cy="20848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837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only the required learner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69080"/>
            <a:ext cx="5180076" cy="2084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69080"/>
            <a:ext cx="91440" cy="20848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37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37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60520"/>
            <a:ext cx="3991356" cy="1938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 the assessor about re-assessment or appeal if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385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FROM RISK TO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87168"/>
            <a:ext cx="10241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7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70832"/>
            <a:ext cx="9966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Prevent failure, improve the system and make learning 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46520"/>
            <a:ext cx="6400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Continuous Process Improvement with FMEA  ·  TGS-2021009031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transition spd="med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